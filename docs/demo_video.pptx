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【ナレーション】
ある日、お母さんが倒れました。息子のたけしさんは28歳、知的障害があります。たけしさんの支援を引き継いでください、と言われたとき…あなたはすぐに対応できますか？
たけしさんは何が苦手ですか？パニックになったらどうすればいいですか？絶対にしてはいけないことは？
紙のファイルから探すのに、何分かかりますか？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【ナレーション】
ある日突然、お母さんが倒れました。息子のたけしさんは28歳、知的障害があります。
たけしさんの支援を引き継ぐには、これだけの情報が必要です。
絶対にしてはいけないこと、パニック時の対応、緊急連絡先の優先順位、かかりつけ医、手帳の更新日…
紙のファイルから探していたら、何分かかるでしょうか？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【ナレーション】
もし、こう聞けたらどうでしょうか？
「たけしさんの緊急対応を教えてください」
Claude Desktopに入力するだけで、30秒以内に、命に関わる3つの情報が出ます。
1つ目、禁忌事項。絶対にやってはいけないこと。大きな声で指示しない、無理に移動させない。
2つ目、推奨ケア。パニックになったら静かな場所に誘導し、好きな音楽を聞かせる。
3つ目、緊急連絡先。優先順位付きで、すぐに電話できます。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【ナレーション】
データはどうやって作るのでしょうか？
答えは簡単です。お母さんや支援者の言葉を、そのままClaude Desktopに貼り付けるだけ。
「たけしは大きな音が苦手です。パニックになったら静かな場所に連れて行って…」
この自然な言葉を、AIが自動的に構造化します。禁忌事項、ケア方法、トリガーに分類されて、データベースに蓄積されます。
専門知識もITスキルも必要ありません。お母さんの言葉がそのままデータになるのです。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【ナレーション】
もうひとつ、大切な機能があります。緊急時にワンタップで助けを呼べるSOSボタンです。
STEP 1：本人や支援者がスマホのSOSボタンを押します。大きな赤いボタンがひとつだけ。知的障害のある方でも直感的に操作できます。
STEP 2：システムが自動的に、位置情報、その方の禁忌事項、緊急連絡先をデータベースから取得します。
STEP 3：これらの情報がまとめられて、LINEグループに即座に届きます。支援者は、場所も注意事項も、すぐに確認できます。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【ナレーション】
支援者のスマホに、このようなメッセージが届きます。
LINEのグループ通知として、SOSの発信時刻、Googleマップへのリンク付きの現在地、対応時に絶対やってはいけないこと、そして緊急連絡先が一目でわかります。
駆けつける前に、注意事項を確認できる。これが二次被害を防ぎます。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【ナレーション】
システムの全体像です。
上から、保護者の言葉、Word・Excel・PDFの書類、日々の支援メモ。これらの生のデータがClaude Desktopに入力されます。
Claude Desktopが自動的にデータを構造化し、Neo4jという知識データベースに蓄積します。
そこから3つのことができます。質問・相談、提案・分析、そしてSOSの緊急通知です。
必要なものは、Claude Desktop、Docker、Neo4j。すべて無料です。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【ナレーション】
親がいなくなっても、この子のことを知っている「記憶」が残る。
それが、このシステムの目的です。
オープンソースで、無償で提供しています。導入のサポートも無償で行っています。
GitHubからダウンロードできます。ぜひ、必要としている方に届けてください。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zumasakawahara/neo4j-agno-agent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9B83"/>
          </a:solidFill>
          <a:ln/>
        </p:spPr>
      </p:sp>
      <p:sp>
        <p:nvSpPr>
          <p:cNvPr id="3" name="Shape 1"/>
          <p:cNvSpPr/>
          <p:nvPr/>
        </p:nvSpPr>
        <p:spPr>
          <a:xfrm>
            <a:off x="1261872" y="137160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920240"/>
            <a:ext cx="877824" cy="987552"/>
          </a:xfrm>
          <a:prstGeom prst="rect">
            <a:avLst>
              <a:gd name="adj" fmla="val 8333"/>
            </a:avLst>
          </a:prstGeom>
          <a:solidFill>
            <a:srgbClr val="EC4899"/>
          </a:solidFill>
          <a:ln/>
        </p:spPr>
      </p:sp>
      <p:sp>
        <p:nvSpPr>
          <p:cNvPr id="5" name="Shape 3"/>
          <p:cNvSpPr/>
          <p:nvPr/>
        </p:nvSpPr>
        <p:spPr>
          <a:xfrm>
            <a:off x="2240280" y="16459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Shape 4"/>
          <p:cNvSpPr/>
          <p:nvPr/>
        </p:nvSpPr>
        <p:spPr>
          <a:xfrm>
            <a:off x="2103120" y="2103120"/>
            <a:ext cx="731520" cy="822960"/>
          </a:xfrm>
          <a:prstGeom prst="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995160" y="16459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2103120"/>
            <a:ext cx="731520" cy="822960"/>
          </a:xfrm>
          <a:prstGeom prst="rect">
            <a:avLst>
              <a:gd name="adj" fmla="val 10000"/>
            </a:avLst>
          </a:prstGeom>
          <a:solidFill>
            <a:srgbClr val="2D9B83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親亡き後、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この子の情報を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どう託しますか？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― 親亡き後支援データベース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緊急事態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Shape 3"/>
          <p:cNvSpPr/>
          <p:nvPr/>
        </p:nvSpPr>
        <p:spPr>
          <a:xfrm>
            <a:off x="1371600" y="2606040"/>
            <a:ext cx="1097280" cy="365760"/>
          </a:xfrm>
          <a:prstGeom prst="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お母さんが倒れました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572768" y="365760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6"/>
          <p:cNvSpPr/>
          <p:nvPr/>
        </p:nvSpPr>
        <p:spPr>
          <a:xfrm>
            <a:off x="1463040" y="4023360"/>
            <a:ext cx="585216" cy="658368"/>
          </a:xfrm>
          <a:prstGeom prst="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たけしさん（28歳）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0" y="457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引き継ぎに必要な情報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572000" y="1280160"/>
            <a:ext cx="3931920" cy="548640"/>
          </a:xfrm>
          <a:prstGeom prst="rect">
            <a:avLst>
              <a:gd name="adj" fmla="val 8333"/>
            </a:avLst>
          </a:prstGeom>
          <a:solidFill>
            <a:srgbClr val="F1F5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絶対にしてはいけないことは？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0" y="1965960"/>
            <a:ext cx="3931920" cy="548640"/>
          </a:xfrm>
          <a:prstGeom prst="rect">
            <a:avLst>
              <a:gd name="adj" fmla="val 8333"/>
            </a:avLst>
          </a:prstGeom>
          <a:solidFill>
            <a:srgbClr val="F1F5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057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パニック時の対応方法は？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572000" y="2651760"/>
            <a:ext cx="3931920" cy="548640"/>
          </a:xfrm>
          <a:prstGeom prst="rect">
            <a:avLst>
              <a:gd name="adj" fmla="val 8333"/>
            </a:avLst>
          </a:prstGeom>
          <a:solidFill>
            <a:srgbClr val="F1F5F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743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緊急連絡先は誰？順番は？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4572000" y="3337560"/>
            <a:ext cx="3931920" cy="548640"/>
          </a:xfrm>
          <a:prstGeom prst="rect">
            <a:avLst>
              <a:gd name="adj" fmla="val 8333"/>
            </a:avLst>
          </a:prstGeom>
          <a:solidFill>
            <a:srgbClr val="F1F5F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4290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かかりつけ医はどこ？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4572000" y="4023360"/>
            <a:ext cx="3931920" cy="548640"/>
          </a:xfrm>
          <a:prstGeom prst="rect">
            <a:avLst>
              <a:gd name="adj" fmla="val 8333"/>
            </a:avLst>
          </a:prstGeom>
          <a:solidFill>
            <a:srgbClr val="F1F5F9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1148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1208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手帳や受給者証の更新日は？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4572000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紙のファイルから探すのに、何分かかりますか？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30秒で、命に関わる情報が出ます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に聞くだけ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たけしさんの緊急対応を教えてください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19456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禁忌事項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94360" y="29260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大きな声で指示しない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（パニック悪化）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無理に移動させない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（転倒リスク）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急な予定変更を伝えない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219456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2194560"/>
            <a:ext cx="2606040" cy="54864"/>
          </a:xfrm>
          <a:prstGeom prst="rect">
            <a:avLst/>
          </a:prstGeom>
          <a:solidFill>
            <a:srgbClr val="1A6B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3774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862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推奨ケア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429000" y="2926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静かな場所に誘導する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好きな音楽を聞かせる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タイマーを見せて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「あと5分」と伝える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035040" y="219456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35040" y="21945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3774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751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緊急連絡先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217920" y="2926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1. 母・山田花子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   090-xxxx-xxxx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2. 相談支援・佐藤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   080-xxxx-xxxx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3. GH・田中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   070-xxxx-xxxx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お母さんの言葉が、そのままデータになる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専門知識もITスキルも不要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お母さんの言葉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82696" y="1463040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1737360"/>
            <a:ext cx="438912" cy="493776"/>
          </a:xfrm>
          <a:prstGeom prst="rect">
            <a:avLst>
              <a:gd name="adj" fmla="val 16667"/>
            </a:avLst>
          </a:prstGeom>
          <a:solidFill>
            <a:srgbClr val="EC4899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011680"/>
            <a:ext cx="34747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10312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たけしは大きな音が苦手です。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スーパーのレジの音で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パニックになることがあります。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そのときは静かな場所に連れて行って、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好きなトーマスの動画を見せると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落ち着きます。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7680" y="3108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0" y="1371600"/>
            <a:ext cx="3840480" cy="3200400"/>
          </a:xfrm>
          <a:prstGeom prst="rect">
            <a:avLst/>
          </a:prstGeom>
          <a:solidFill>
            <a:srgbClr val="E8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5087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構造化データ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212080" y="2011680"/>
            <a:ext cx="347472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212080" y="201168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3"/>
          <p:cNvSpPr/>
          <p:nvPr/>
        </p:nvSpPr>
        <p:spPr>
          <a:xfrm>
            <a:off x="539496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禁忌事項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3949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大きな音のある場所に長時間いさせない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212080" y="2788920"/>
            <a:ext cx="347472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5212080" y="2788920"/>
            <a:ext cx="54864" cy="640080"/>
          </a:xfrm>
          <a:prstGeom prst="rect">
            <a:avLst/>
          </a:prstGeom>
          <a:solidFill>
            <a:srgbClr val="1A6B5C"/>
          </a:solidFill>
          <a:ln/>
        </p:spPr>
      </p:sp>
      <p:sp>
        <p:nvSpPr>
          <p:cNvPr id="22" name="Text 17"/>
          <p:cNvSpPr/>
          <p:nvPr/>
        </p:nvSpPr>
        <p:spPr>
          <a:xfrm>
            <a:off x="5394960" y="2807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ケア方法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39496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パニック時：静かな場所 → トーマスの動画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212080" y="3566160"/>
            <a:ext cx="347472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5212080" y="3566160"/>
            <a:ext cx="54864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1"/>
          <p:cNvSpPr/>
          <p:nvPr/>
        </p:nvSpPr>
        <p:spPr>
          <a:xfrm>
            <a:off x="5394960" y="3584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トリガー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スーパーのレジの音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緊急時、ワンタップで助けを呼べる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本人も支援者もスマホから即座に発信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468880" cy="3200400"/>
          </a:xfrm>
          <a:prstGeom prst="rect">
            <a:avLst>
              <a:gd name="adj" fmla="val 3704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34440" y="1920240"/>
            <a:ext cx="804672" cy="1463040"/>
          </a:xfrm>
          <a:prstGeom prst="rect">
            <a:avLst>
              <a:gd name="adj" fmla="val 6818"/>
            </a:avLst>
          </a:prstGeom>
          <a:solidFill>
            <a:srgbClr val="374151"/>
          </a:solidFill>
          <a:ln/>
        </p:spPr>
      </p:sp>
      <p:sp>
        <p:nvSpPr>
          <p:cNvPr id="7" name="Shape 5"/>
          <p:cNvSpPr/>
          <p:nvPr/>
        </p:nvSpPr>
        <p:spPr>
          <a:xfrm>
            <a:off x="1292962" y="2037283"/>
            <a:ext cx="687629" cy="1141171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Shape 6"/>
          <p:cNvSpPr/>
          <p:nvPr/>
        </p:nvSpPr>
        <p:spPr>
          <a:xfrm>
            <a:off x="1527048" y="3236976"/>
            <a:ext cx="219456" cy="8778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ボタンを押す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834640"/>
            <a:ext cx="411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11880" y="1463040"/>
            <a:ext cx="2103120" cy="3200400"/>
          </a:xfrm>
          <a:prstGeom prst="rect">
            <a:avLst>
              <a:gd name="adj" fmla="val 4348"/>
            </a:avLst>
          </a:prstGeom>
          <a:solidFill>
            <a:srgbClr val="EDE9FE"/>
          </a:solidFill>
          <a:ln/>
        </p:spPr>
      </p:sp>
      <p:sp>
        <p:nvSpPr>
          <p:cNvPr id="13" name="Text 10"/>
          <p:cNvSpPr/>
          <p:nvPr/>
        </p:nvSpPr>
        <p:spPr>
          <a:xfrm>
            <a:off x="361188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103120"/>
            <a:ext cx="640080" cy="64008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926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9768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位置情報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2918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9768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禁忌事項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365760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297680" y="3657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連絡先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61188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自動取得・統合</a:t>
            </a:r>
            <a:endParaRPr lang="en-US" sz="14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2834640"/>
            <a:ext cx="411480" cy="4114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400800" y="1463040"/>
            <a:ext cx="2286000" cy="3200400"/>
          </a:xfrm>
          <a:prstGeom prst="rect">
            <a:avLst>
              <a:gd name="adj" fmla="val 4000"/>
            </a:avLst>
          </a:prstGeom>
          <a:solidFill>
            <a:srgbClr val="DCFCE7"/>
          </a:solidFill>
          <a:ln/>
        </p:spPr>
      </p:sp>
      <p:sp>
        <p:nvSpPr>
          <p:cNvPr id="24" name="Text 16"/>
          <p:cNvSpPr/>
          <p:nvPr/>
        </p:nvSpPr>
        <p:spPr>
          <a:xfrm>
            <a:off x="64008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2011680"/>
            <a:ext cx="640080" cy="64008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537960" y="2834640"/>
            <a:ext cx="201168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06C755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6629400" y="2880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たけしさんSOS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現在地: Google Maps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大きな声NG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母: 090-xxxx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640080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LINE通知が届く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支援者のスマホに届くメッセージ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54964" y="137160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783080"/>
            <a:ext cx="658368" cy="740664"/>
          </a:xfrm>
          <a:prstGeom prst="rect">
            <a:avLst>
              <a:gd name="adj" fmla="val 11111"/>
            </a:avLst>
          </a:prstGeom>
          <a:solidFill>
            <a:srgbClr val="2D9B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相談支援員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54964" y="292608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337560"/>
            <a:ext cx="658368" cy="740664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GH職員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45920"/>
            <a:ext cx="365760" cy="36576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20040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1097280"/>
            <a:ext cx="6126480" cy="36576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6C7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60320" y="1097280"/>
            <a:ext cx="6126480" cy="45720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13" name="Text 9"/>
          <p:cNvSpPr/>
          <p:nvPr/>
        </p:nvSpPr>
        <p:spPr>
          <a:xfrm>
            <a:off x="2560320" y="10972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グループ通知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34640" y="169164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🆘 緊急SOS: たけしさんからの発信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⏰ 発信時刻: 2026/02/21 14:30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📍 現在地: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https://www.google.com/maps?q=35.xxx,139.xxx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⚠️ 対応時の注意: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🔴 大きな声で指示しない（パニック悪化）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🔴 無理に移動させない（転倒リスク）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6B5C"/>
                </a:solidFill>
              </a:rPr>
              <a:t>📞 緊急連絡先: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1. 母・山田花子  090-xxxx-xxxx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2. GH・田中     070-xxxx-xxxx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システム全体像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914400"/>
          </a:xfrm>
          <a:prstGeom prst="rect">
            <a:avLst>
              <a:gd name="adj" fmla="val 5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51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保護者の言葉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支援記録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560320" y="1005840"/>
            <a:ext cx="1828800" cy="914400"/>
          </a:xfrm>
          <a:prstGeom prst="rect">
            <a:avLst>
              <a:gd name="adj" fmla="val 5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0972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63240" y="1051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Word/Excel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1005840"/>
            <a:ext cx="1828800" cy="914400"/>
          </a:xfrm>
          <a:prstGeom prst="rect">
            <a:avLst>
              <a:gd name="adj" fmla="val 5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6360" y="1051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日々の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支援メモ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011680"/>
            <a:ext cx="320040" cy="32004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011680"/>
            <a:ext cx="320040" cy="32004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011680"/>
            <a:ext cx="320040" cy="32004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57200" y="2468880"/>
            <a:ext cx="6035040" cy="1097280"/>
          </a:xfrm>
          <a:prstGeom prst="rect">
            <a:avLst>
              <a:gd name="adj" fmla="val 6667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651760"/>
            <a:ext cx="502920" cy="50292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8016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Desktop</a:t>
            </a:r>
            <a:endParaRPr lang="en-US" sz="1800" dirty="0"/>
          </a:p>
        </p:txBody>
      </p:sp>
      <p:sp>
        <p:nvSpPr>
          <p:cNvPr id="18" name="Text 9"/>
          <p:cNvSpPr/>
          <p:nvPr/>
        </p:nvSpPr>
        <p:spPr>
          <a:xfrm>
            <a:off x="128016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自動構造化 + 知識蓄積</a:t>
            </a:r>
            <a:endParaRPr lang="en-US" sz="1300" dirty="0"/>
          </a:p>
        </p:txBody>
      </p:sp>
      <p:sp>
        <p:nvSpPr>
          <p:cNvPr id="19" name="Shape 10"/>
          <p:cNvSpPr/>
          <p:nvPr/>
        </p:nvSpPr>
        <p:spPr>
          <a:xfrm>
            <a:off x="4754880" y="2606040"/>
            <a:ext cx="1463040" cy="822960"/>
          </a:xfrm>
          <a:prstGeom prst="ellipse">
            <a:avLst/>
          </a:prstGeom>
          <a:solidFill>
            <a:srgbClr val="1A6B5C"/>
          </a:solidFill>
          <a:ln/>
        </p:spPr>
      </p:sp>
      <p:sp>
        <p:nvSpPr>
          <p:cNvPr id="20" name="Text 11"/>
          <p:cNvSpPr/>
          <p:nvPr/>
        </p:nvSpPr>
        <p:spPr>
          <a:xfrm>
            <a:off x="4754880" y="2606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知識DB</a:t>
            </a:r>
            <a:endParaRPr lang="en-US" sz="13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3657600"/>
            <a:ext cx="320040" cy="320040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3657600"/>
            <a:ext cx="320040" cy="320040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3657600"/>
            <a:ext cx="320040" cy="32004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457200" y="4114800"/>
            <a:ext cx="1828800" cy="822960"/>
          </a:xfrm>
          <a:prstGeom prst="rect">
            <a:avLst>
              <a:gd name="adj" fmla="val 5556"/>
            </a:avLst>
          </a:prstGeom>
          <a:solidFill>
            <a:srgbClr val="E8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" y="4206240"/>
            <a:ext cx="274320" cy="27432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1440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質問・相談</a:t>
            </a:r>
            <a:endParaRPr lang="en-US" sz="1300" dirty="0"/>
          </a:p>
        </p:txBody>
      </p:sp>
      <p:sp>
        <p:nvSpPr>
          <p:cNvPr id="27" name="Text 14"/>
          <p:cNvSpPr/>
          <p:nvPr/>
        </p:nvSpPr>
        <p:spPr>
          <a:xfrm>
            <a:off x="594360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「この子のこと教えて」</a:t>
            </a:r>
            <a:endParaRPr lang="en-US" sz="1000" dirty="0"/>
          </a:p>
        </p:txBody>
      </p:sp>
      <p:sp>
        <p:nvSpPr>
          <p:cNvPr id="28" name="Shape 15"/>
          <p:cNvSpPr/>
          <p:nvPr/>
        </p:nvSpPr>
        <p:spPr>
          <a:xfrm>
            <a:off x="2560320" y="4114800"/>
            <a:ext cx="1828800" cy="822960"/>
          </a:xfrm>
          <a:prstGeom prst="rect">
            <a:avLst>
              <a:gd name="adj" fmla="val 5556"/>
            </a:avLst>
          </a:prstGeom>
          <a:solidFill>
            <a:srgbClr val="E8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7480" y="4206240"/>
            <a:ext cx="274320" cy="27432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301752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提案・分析</a:t>
            </a:r>
            <a:endParaRPr lang="en-US" sz="1300" dirty="0"/>
          </a:p>
        </p:txBody>
      </p:sp>
      <p:sp>
        <p:nvSpPr>
          <p:cNvPr id="31" name="Text 17"/>
          <p:cNvSpPr/>
          <p:nvPr/>
        </p:nvSpPr>
        <p:spPr>
          <a:xfrm>
            <a:off x="2697480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「次の支援計画は」</a:t>
            </a:r>
            <a:endParaRPr lang="en-US" sz="1000" dirty="0"/>
          </a:p>
        </p:txBody>
      </p:sp>
      <p:sp>
        <p:nvSpPr>
          <p:cNvPr id="32" name="Shape 18"/>
          <p:cNvSpPr/>
          <p:nvPr/>
        </p:nvSpPr>
        <p:spPr>
          <a:xfrm>
            <a:off x="4663440" y="4114800"/>
            <a:ext cx="1828800" cy="822960"/>
          </a:xfrm>
          <a:prstGeom prst="rect">
            <a:avLst>
              <a:gd name="adj" fmla="val 5556"/>
            </a:avLst>
          </a:prstGeom>
          <a:solidFill>
            <a:srgbClr val="FEE2E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0600" y="4206240"/>
            <a:ext cx="274320" cy="27432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12064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SOS通知</a:t>
            </a:r>
            <a:endParaRPr lang="en-US" sz="1300" dirty="0"/>
          </a:p>
        </p:txBody>
      </p:sp>
      <p:sp>
        <p:nvSpPr>
          <p:cNvPr id="35" name="Text 20"/>
          <p:cNvSpPr/>
          <p:nvPr/>
        </p:nvSpPr>
        <p:spPr>
          <a:xfrm>
            <a:off x="4800600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ワンタップで緊急連絡</a:t>
            </a:r>
            <a:endParaRPr lang="en-US" sz="1000" dirty="0"/>
          </a:p>
        </p:txBody>
      </p:sp>
      <p:sp>
        <p:nvSpPr>
          <p:cNvPr id="36" name="Shape 21"/>
          <p:cNvSpPr/>
          <p:nvPr/>
        </p:nvSpPr>
        <p:spPr>
          <a:xfrm>
            <a:off x="6858000" y="1005840"/>
            <a:ext cx="2011680" cy="393192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37" name="Text 22"/>
          <p:cNvSpPr/>
          <p:nvPr/>
        </p:nvSpPr>
        <p:spPr>
          <a:xfrm>
            <a:off x="685800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必要なもの</a:t>
            </a:r>
            <a:endParaRPr lang="en-US" sz="1400" dirty="0"/>
          </a:p>
        </p:txBody>
      </p:sp>
      <p:sp>
        <p:nvSpPr>
          <p:cNvPr id="38" name="Shape 23"/>
          <p:cNvSpPr/>
          <p:nvPr/>
        </p:nvSpPr>
        <p:spPr>
          <a:xfrm>
            <a:off x="7040880" y="1691640"/>
            <a:ext cx="1645920" cy="640080"/>
          </a:xfrm>
          <a:prstGeom prst="rect">
            <a:avLst>
              <a:gd name="adj" fmla="val 7143"/>
            </a:avLst>
          </a:prstGeom>
          <a:solidFill>
            <a:srgbClr val="475569"/>
          </a:solidFill>
          <a:ln/>
        </p:spPr>
      </p:sp>
      <p:sp>
        <p:nvSpPr>
          <p:cNvPr id="39" name="Text 24"/>
          <p:cNvSpPr/>
          <p:nvPr/>
        </p:nvSpPr>
        <p:spPr>
          <a:xfrm>
            <a:off x="704088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300" dirty="0"/>
          </a:p>
        </p:txBody>
      </p:sp>
      <p:sp>
        <p:nvSpPr>
          <p:cNvPr id="40" name="Text 25"/>
          <p:cNvSpPr/>
          <p:nvPr/>
        </p:nvSpPr>
        <p:spPr>
          <a:xfrm>
            <a:off x="7040880" y="2039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200" dirty="0"/>
          </a:p>
        </p:txBody>
      </p:sp>
      <p:sp>
        <p:nvSpPr>
          <p:cNvPr id="41" name="Shape 26"/>
          <p:cNvSpPr/>
          <p:nvPr/>
        </p:nvSpPr>
        <p:spPr>
          <a:xfrm>
            <a:off x="7040880" y="2468880"/>
            <a:ext cx="1645920" cy="640080"/>
          </a:xfrm>
          <a:prstGeom prst="rect">
            <a:avLst>
              <a:gd name="adj" fmla="val 7143"/>
            </a:avLst>
          </a:prstGeom>
          <a:solidFill>
            <a:srgbClr val="475569"/>
          </a:solidFill>
          <a:ln/>
        </p:spPr>
      </p:sp>
      <p:sp>
        <p:nvSpPr>
          <p:cNvPr id="42" name="Text 27"/>
          <p:cNvSpPr/>
          <p:nvPr/>
        </p:nvSpPr>
        <p:spPr>
          <a:xfrm>
            <a:off x="704088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43" name="Text 28"/>
          <p:cNvSpPr/>
          <p:nvPr/>
        </p:nvSpPr>
        <p:spPr>
          <a:xfrm>
            <a:off x="7040880" y="2816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200" dirty="0"/>
          </a:p>
        </p:txBody>
      </p:sp>
      <p:sp>
        <p:nvSpPr>
          <p:cNvPr id="44" name="Shape 29"/>
          <p:cNvSpPr/>
          <p:nvPr/>
        </p:nvSpPr>
        <p:spPr>
          <a:xfrm>
            <a:off x="7040880" y="3246120"/>
            <a:ext cx="1645920" cy="640080"/>
          </a:xfrm>
          <a:prstGeom prst="rect">
            <a:avLst>
              <a:gd name="adj" fmla="val 7143"/>
            </a:avLst>
          </a:prstGeom>
          <a:solidFill>
            <a:srgbClr val="475569"/>
          </a:solidFill>
          <a:ln/>
        </p:spPr>
      </p:sp>
      <p:sp>
        <p:nvSpPr>
          <p:cNvPr id="45" name="Text 30"/>
          <p:cNvSpPr/>
          <p:nvPr/>
        </p:nvSpPr>
        <p:spPr>
          <a:xfrm>
            <a:off x="704088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</p:txBody>
      </p:sp>
      <p:sp>
        <p:nvSpPr>
          <p:cNvPr id="46" name="Text 31"/>
          <p:cNvSpPr/>
          <p:nvPr/>
        </p:nvSpPr>
        <p:spPr>
          <a:xfrm>
            <a:off x="7040880" y="3593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200" dirty="0"/>
          </a:p>
        </p:txBody>
      </p:sp>
      <p:sp>
        <p:nvSpPr>
          <p:cNvPr id="47" name="Text 32"/>
          <p:cNvSpPr/>
          <p:nvPr/>
        </p:nvSpPr>
        <p:spPr>
          <a:xfrm>
            <a:off x="685800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すべて無料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9B8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親がいなくなっても</a:t>
            </a:r>
            <a:endParaRPr lang="en-US" sz="3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この子のことを知っている</a:t>
            </a:r>
            <a:endParaRPr lang="en-US" sz="3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「記憶」が残る。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それが、このシステムの目的です。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9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オープンソース・無償提供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251960"/>
            <a:ext cx="320040" cy="320040"/>
          </a:xfrm>
          <a:prstGeom prst="rect">
            <a:avLst/>
          </a:prstGeom>
        </p:spPr>
      </p:pic>
      <p:sp>
        <p:nvSpPr>
          <p:cNvPr id="9" name="Text 5">
            <a:hlinkClick r:id="rId3" tooltip=""/>
          </p:cNvPr>
          <p:cNvSpPr/>
          <p:nvPr/>
        </p:nvSpPr>
        <p:spPr>
          <a:xfrm>
            <a:off x="292608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github.com/kazumasakawahara/neo4j-agno-agent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導入サポート（無償）もお気軽にご連絡ください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親亡き後、この子の情報をどう託しますか？</dc:title>
  <dc:subject>PptxGenJS Presentation</dc:subject>
  <dc:creator>nest - 親亡き後支援データベース</dc:creator>
  <cp:lastModifiedBy>nest - 親亡き後支援データベース</cp:lastModifiedBy>
  <cp:revision>1</cp:revision>
  <dcterms:created xsi:type="dcterms:W3CDTF">2026-02-21T05:21:29Z</dcterms:created>
  <dcterms:modified xsi:type="dcterms:W3CDTF">2026-02-21T05:21:29Z</dcterms:modified>
</cp:coreProperties>
</file>